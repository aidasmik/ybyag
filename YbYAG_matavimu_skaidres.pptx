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194E"/>
          </a:solidFill>
          <a:ln>
            <a:solidFill>
              <a:srgbClr val="0F1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0" y="393192"/>
            <a:ext cx="2743200" cy="1152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" y="1773936"/>
            <a:ext cx="10698480" cy="2240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200" b="0">
                <a:solidFill>
                  <a:srgbClr val="BEBEBE"/>
                </a:solidFill>
                <a:latin typeface="Aptos Display"/>
              </a:rPr>
              <a:t>Yb:YAG optinių ir</a:t>
            </a:r>
            <a:br/>
            <a:r>
              <a:rPr sz="4200" b="0">
                <a:solidFill>
                  <a:srgbClr val="BEBEBE"/>
                </a:solidFill>
                <a:latin typeface="Aptos Display"/>
              </a:rPr>
              <a:t>fotoliuminescencijos</a:t>
            </a:r>
            <a:br/>
            <a:r>
              <a:rPr sz="4200" b="0">
                <a:solidFill>
                  <a:srgbClr val="BEBEBE"/>
                </a:solidFill>
                <a:latin typeface="Aptos Display"/>
              </a:rPr>
              <a:t>matavimų apžvalga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682496"/>
            <a:ext cx="10698480" cy="22402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4200" b="0">
                <a:solidFill>
                  <a:srgbClr val="000000"/>
                </a:solidFill>
                <a:latin typeface="Aptos Display"/>
              </a:rPr>
              <a:t>Yb:YAG optinių ir</a:t>
            </a:r>
            <a:br/>
            <a:r>
              <a:rPr sz="4200" b="0">
                <a:solidFill>
                  <a:srgbClr val="000000"/>
                </a:solidFill>
                <a:latin typeface="Aptos Display"/>
              </a:rPr>
              <a:t>fotoliuminescencijos</a:t>
            </a:r>
            <a:br/>
            <a:r>
              <a:rPr sz="4200" b="0">
                <a:solidFill>
                  <a:srgbClr val="000000"/>
                </a:solidFill>
                <a:latin typeface="Aptos Display"/>
              </a:rPr>
              <a:t>matavimų apžvalga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07408"/>
            <a:ext cx="95097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800" b="0">
                <a:solidFill>
                  <a:srgbClr val="156082"/>
                </a:solidFill>
                <a:latin typeface="Aptos"/>
              </a:rPr>
              <a:t>Transmisija, sugertis, atspindys ir temperatūrinė 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047488"/>
            <a:ext cx="6858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Aptos"/>
              </a:rPr>
              <a:t>A. Mikalauskas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263640"/>
            <a:ext cx="8686800" cy="18288"/>
          </a:xfrm>
          <a:prstGeom prst="rect">
            <a:avLst/>
          </a:prstGeom>
          <a:solidFill>
            <a:srgbClr val="E1E1E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9345168" y="6428232"/>
            <a:ext cx="1325880" cy="310896"/>
          </a:xfrm>
          <a:prstGeom prst="parallelogram">
            <a:avLst/>
          </a:prstGeom>
          <a:solidFill>
            <a:srgbClr val="A1D6F0"/>
          </a:solidFill>
          <a:ln>
            <a:solidFill>
              <a:srgbClr val="A1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rallelogram 9"/>
          <p:cNvSpPr/>
          <p:nvPr/>
        </p:nvSpPr>
        <p:spPr>
          <a:xfrm>
            <a:off x="10561320" y="6428232"/>
            <a:ext cx="1344168" cy="310896"/>
          </a:xfrm>
          <a:prstGeom prst="parallelogram">
            <a:avLst/>
          </a:prstGeom>
          <a:solidFill>
            <a:srgbClr val="0F194E"/>
          </a:solidFill>
          <a:ln>
            <a:solidFill>
              <a:srgbClr val="0F1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64040" y="6473952"/>
            <a:ext cx="960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Aptos"/>
              </a:rPr>
              <a:t>Yb:YAG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5056" y="6473952"/>
            <a:ext cx="960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194E"/>
          </a:solidFill>
          <a:ln>
            <a:solidFill>
              <a:srgbClr val="0F1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0" y="411480"/>
            <a:ext cx="8823960" cy="1170432"/>
          </a:xfrm>
          <a:prstGeom prst="rightArrow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7406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Matavimų rinkinys</a:t>
            </a:r>
          </a:p>
        </p:txBody>
      </p:sp>
      <p:pic>
        <p:nvPicPr>
          <p:cNvPr id="5" name="Picture 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347472"/>
            <a:ext cx="2560320" cy="10753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0584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Transmisijos, sugerties ir atspindžio spektrai 800-1200 nm srityje.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Gryni A/B mėginiai ir Yb:YAG mėginiai su 5 %, 10 %, 15 % Yb koncentracijomis.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A ir B mėginių palyginimas: tiesioginiai spektrai ir vertikalūs poslinkiai sutapdinimui.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Fotoliuminescencija: koncentracijų palyginimas ir TDPL seka 4-300 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trans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08" y="164592"/>
            <a:ext cx="9765334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04" y="164592"/>
            <a:ext cx="9757942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ref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04" y="164592"/>
            <a:ext cx="9757942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pure_A_B_transmi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808" y="164592"/>
            <a:ext cx="9765334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pure_A_B_absorb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865" y="164592"/>
            <a:ext cx="9753221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pure_A_B_transmission_offset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48" y="164592"/>
            <a:ext cx="10168654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pure_A_B_absorbance_offset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504" y="164592"/>
            <a:ext cx="9757942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photolumin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23" y="164592"/>
            <a:ext cx="9772104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temperature_photoluminesc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02" y="164592"/>
            <a:ext cx="9781546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bYAG_literature_ban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638" y="164592"/>
            <a:ext cx="9461675" cy="6236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F194E"/>
          </a:solidFill>
          <a:ln>
            <a:solidFill>
              <a:srgbClr val="0F1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Arrow 2"/>
          <p:cNvSpPr/>
          <p:nvPr/>
        </p:nvSpPr>
        <p:spPr>
          <a:xfrm>
            <a:off x="0" y="411480"/>
            <a:ext cx="8823960" cy="1170432"/>
          </a:xfrm>
          <a:prstGeom prst="rightArrow">
            <a:avLst/>
          </a:prstGeom>
          <a:solidFill>
            <a:srgbClr val="0E2841"/>
          </a:solidFill>
          <a:ln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67512"/>
            <a:ext cx="74066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Pagrindinės išvados</a:t>
            </a:r>
          </a:p>
        </p:txBody>
      </p:sp>
      <p:pic>
        <p:nvPicPr>
          <p:cNvPr id="5" name="Picture 4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347472"/>
            <a:ext cx="2560320" cy="10753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48872" y="6455664"/>
            <a:ext cx="29260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50" b="0">
                <a:solidFill>
                  <a:srgbClr val="606060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10149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Yb absorbcijos srityje dopinguotų mėginių transmisija mažėja, o sugertis didėja.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A ir B grynų mėginių skirtumus galima parodyti vertikaliu spektrų poslinkiu.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Atspindžio spektrai atskiria dangos elgseną prie ~1 µm bangos ilgių.</a:t>
            </a:r>
          </a:p>
          <a:p>
            <a:pPr>
              <a:spcAft>
                <a:spcPts val="1800"/>
              </a:spcAft>
            </a:pPr>
            <a:r>
              <a:rPr sz="2200" b="0">
                <a:solidFill>
                  <a:srgbClr val="000000"/>
                </a:solidFill>
                <a:latin typeface="Aptos"/>
              </a:rPr>
              <a:t>TDPL duomenyse pagrindinė ~1030 nm juosta keičiantis temperatūrai silpnėja ir platėja.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9345168" y="6428232"/>
            <a:ext cx="1325880" cy="310896"/>
          </a:xfrm>
          <a:prstGeom prst="parallelogram">
            <a:avLst/>
          </a:prstGeom>
          <a:solidFill>
            <a:srgbClr val="A1D6F0"/>
          </a:solidFill>
          <a:ln>
            <a:solidFill>
              <a:srgbClr val="A1D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rallelogram 8"/>
          <p:cNvSpPr/>
          <p:nvPr/>
        </p:nvSpPr>
        <p:spPr>
          <a:xfrm>
            <a:off x="10561320" y="6428232"/>
            <a:ext cx="1344168" cy="310896"/>
          </a:xfrm>
          <a:prstGeom prst="parallelogram">
            <a:avLst/>
          </a:prstGeom>
          <a:solidFill>
            <a:srgbClr val="0F194E"/>
          </a:solidFill>
          <a:ln>
            <a:solidFill>
              <a:srgbClr val="0F1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64040" y="6473952"/>
            <a:ext cx="960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Aptos"/>
              </a:rPr>
              <a:t>Yb:YAG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35056" y="6473952"/>
            <a:ext cx="9601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ptos"/>
              </a:rPr>
              <a:t>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